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</p:sldIdLst>
  <p:sldSz cx="12192000" cy="6858000" type="screen16x9"/>
  <p:notesSz cx="6858000" cy="9144000"/>
  <p:defaultTextStyle>
    <a:defPPr>
      <a:defRPr lang="fr-FR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officeDocument" Target="presProps.xml"/><Relationship Id="rId2" Type="http://schemas.openxmlformats.org/officeDocument/2006/relationships/tableStyles" Target="tableStyles.xml"/><Relationship Id="rId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10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  <p:sldLayoutId id="2" r:id="rId2"/>
    <p:sldLayoutId id="3" r:id="rId3"/>
    <p:sldLayoutId id="4" r:id="rId4"/>
    <p:sldLayoutId id="5" r:id="rId5"/>
  </p:sldLayoutIdLst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5.xml"/><Relationship Id="rIdImg1" Type="http://schemas.openxmlformats.org/officeDocument/2006/relationships/image" Target="../media/00-dashboard.jpg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3.xml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5.xml"/><Relationship Id="rIdImg1" Type="http://schemas.openxmlformats.org/officeDocument/2006/relationships/image" Target="../media/01-indicators-definitions.jpg"/><Relationship Id="rIdImg2" Type="http://schemas.openxmlformats.org/officeDocument/2006/relationships/image" Target="../media/01-indicators-sources.jpg"/><Relationship Id="rIdImg3" Type="http://schemas.openxmlformats.org/officeDocument/2006/relationships/image" Target="../media/01-indicators-measure-methods.jpg"/><Relationship Id="rIdImg4" Type="http://schemas.openxmlformats.org/officeDocument/2006/relationships/image" Target="../media/01-indicators-references.jpg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5.xml"/><Relationship Id="rIdImg1" Type="http://schemas.openxmlformats.org/officeDocument/2006/relationships/image" Target="../media/01-indicators-values.jpg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_rels/slide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5.xml"/><Relationship Id="rIdImg1" Type="http://schemas.openxmlformats.org/officeDocument/2006/relationships/image" Target="../media/02-uhc-themes.jpg"/><Relationship Id="rIdImg2" Type="http://schemas.openxmlformats.org/officeDocument/2006/relationships/image" Target="../media/02-uhc-groups.jpg"/><Relationship Id="rIdImg3" Type="http://schemas.openxmlformats.org/officeDocument/2006/relationships/image" Target="../media/02-uhc-indicators.jpg"/><Relationship Id="rIdImg4" Type="http://schemas.openxmlformats.org/officeDocument/2006/relationships/image" Target="../media/02-uhc-priority.jpg"/></Relationships>
</file>

<file path=ppt/slides/_rels/slide1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5.xml"/><Relationship Id="rIdImg1" Type="http://schemas.openxmlformats.org/officeDocument/2006/relationships/image" Target="../media/02-uhc-progress.jpg"/></Relationships>
</file>

<file path=ppt/slides/_rels/slide1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5.xml"/><Relationship Id="rIdImg1" Type="http://schemas.openxmlformats.org/officeDocument/2006/relationships/image" Target="../media/03-facilities-facilities.jpg"/><Relationship Id="rIdImg2" Type="http://schemas.openxmlformats.org/officeDocument/2006/relationships/image" Target="../media/03-facilities-types.jpg"/></Relationships>
</file>

<file path=ppt/slides/_rels/slide1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5.xml"/><Relationship Id="rIdImg1" Type="http://schemas.openxmlformats.org/officeDocument/2006/relationships/image" Target="../media/04-workforce-values.jpg"/><Relationship Id="rIdImg2" Type="http://schemas.openxmlformats.org/officeDocument/2006/relationships/image" Target="../media/04-workforce-cadres.jpg"/><Relationship Id="rIdImg3" Type="http://schemas.openxmlformats.org/officeDocument/2006/relationships/image" Target="../media/04-workforce-training.jpg"/></Relationships>
</file>

<file path=ppt/slides/_rels/slide1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5.xml"/><Relationship Id="rIdImg1" Type="http://schemas.openxmlformats.org/officeDocument/2006/relationships/image" Target="../media/05-services-values.jpg"/></Relationships>
</file>

<file path=ppt/slides/_rels/slide1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5.xml"/><Relationship Id="rIdImg1" Type="http://schemas.openxmlformats.org/officeDocument/2006/relationships/image" Target="../media/06-dataelements-definitions.jpg"/><Relationship Id="rIdImg2" Type="http://schemas.openxmlformats.org/officeDocument/2006/relationships/image" Target="../media/06-dataelements-groups.jpg"/></Relationships>
</file>

<file path=ppt/slides/_rels/slide1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5.xml"/><Relationship Id="rIdImg1" Type="http://schemas.openxmlformats.org/officeDocument/2006/relationships/image" Target="../media/07-publications-products.jpg"/><Relationship Id="rIdImg2" Type="http://schemas.openxmlformats.org/officeDocument/2006/relationships/image" Target="../media/07-publications-types.jpg"/><Relationship Id="rIdImg3" Type="http://schemas.openxmlformats.org/officeDocument/2006/relationships/image" Target="../media/07-publications-categories.jpg"/></Relationships>
</file>

<file path=ppt/slides/_rels/slide1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5.xml"/><Relationship Id="rIdImg1" Type="http://schemas.openxmlformats.org/officeDocument/2006/relationships/image" Target="../media/08-regions-locations.jpg"/><Relationship Id="rIdImg2" Type="http://schemas.openxmlformats.org/officeDocument/2006/relationships/image" Target="../media/08-regions-levels.jpg"/></Relationships>
</file>

<file path=ppt/slides/_rels/slide1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5.xml"/><Relationship Id="rIdImg1" Type="http://schemas.openxmlformats.org/officeDocument/2006/relationships/image" Target="../media/09-dataintegration-connections.jpg"/></Relationships>
</file>

<file path=ppt/slides/_rels/slide1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_rels/slide1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_rels/slide2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_rels/slide2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_rels/slide2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_rels/slide2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_rels/slide2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_rels/slide2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_rels/slide2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_rels/slide2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_rels/slide2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_rels/slide2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_rels/slide3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_rels/slide3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_rels/slide3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_rels/slide3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_rels/slide3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5.xml"/><Relationship Id="rIdImg1" Type="http://schemas.openxmlformats.org/officeDocument/2006/relationships/image" Target="../media/10-dataquality-checks.jpg"/><Relationship Id="rIdImg2" Type="http://schemas.openxmlformats.org/officeDocument/2006/relationships/image" Target="../media/10-dataquality-failed-imports.jpg"/></Relationships>
</file>

<file path=ppt/slides/_rels/slide3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5.xml"/><Relationship Id="rIdImg1" Type="http://schemas.openxmlformats.org/officeDocument/2006/relationships/image" Target="../media/11-apitokens-status.jpg"/><Relationship Id="rIdImg2" Type="http://schemas.openxmlformats.org/officeDocument/2006/relationships/image" Target="../media/11-apidocs.jpg"/></Relationships>
</file>

<file path=ppt/slides/_rels/slide3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5.xml"/><Relationship Id="rIdImg1" Type="http://schemas.openxmlformats.org/officeDocument/2006/relationships/image" Target="../media/12-authentication-users.jpg"/></Relationships>
</file>

<file path=ppt/slides/_rels/slide3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5650000"/>
            <a:ext cx="182000" cy="1208000"/>
          </a:xfrm>
          <a:prstGeom prst="rect">
            <a:avLst/>
          </a:prstGeom>
          <a:ln>
            <a:noFill/>
          </a:ln>
          <a:solidFill>
            <a:srgbClr val="FFFFFF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800000" y="700000"/>
            <a:ext cx="10600000" cy="4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1600" b="1">
                <a:solidFill>
                  <a:srgbClr val="FFFFFF"/>
                </a:solidFill>
                <a:latin typeface="Calibri"/>
              </a:rPr>
              <a:t>FORMATION &amp; GUIDE UTILISATEUR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800000" y="1950000"/>
            <a:ext cx="10600000" cy="1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80000"/>
            </a:pPr>
            <a:r>
              <a:rPr lang="fr-FR" sz="4800" b="1">
                <a:solidFill>
                  <a:srgbClr val="FFFFFF"/>
                </a:solidFill>
                <a:latin typeface="Calibri"/>
              </a:rPr>
              <a:t>Data Capture Tool</a:t>
            </a:r>
          </a:p>
        </p:txBody>
      </p:sp>
      <p:sp>
        <p:nvSpPr>
          <p:cNvPr id="5" name="text5"/>
          <p:cNvSpPr>
            <a:spLocks noGrp="1"/>
          </p:cNvSpPr>
          <p:nvPr/>
        </p:nvSpPr>
        <p:spPr>
          <a:xfrm>
            <a:off x="800000" y="3450000"/>
            <a:ext cx="10500000" cy="9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2200" b="0">
                <a:solidFill>
                  <a:srgbClr val="D0ECF9"/>
                </a:solidFill>
                <a:latin typeface="Calibri"/>
              </a:rPr>
              <a:t>Outil de saisie des données de santé</a:t>
            </a:r>
          </a:p>
          <a:p>
            <a:pPr algn="l">
              <a:spcAft spc="40000"/>
            </a:pPr>
            <a:r>
              <a:rPr lang="fr-FR" sz="2200" b="0">
                <a:solidFill>
                  <a:srgbClr val="D0ECF9"/>
                </a:solidFill>
                <a:latin typeface="Calibri"/>
              </a:rPr>
              <a:t>Afrique – Saisie, validation, administration et consultation</a:t>
            </a:r>
          </a:p>
        </p:txBody>
      </p:sp>
      <p:sp>
        <p:nvSpPr>
          <p:cNvPr id="6" name="text6"/>
          <p:cNvSpPr>
            <a:spLocks noGrp="1"/>
          </p:cNvSpPr>
          <p:nvPr/>
        </p:nvSpPr>
        <p:spPr>
          <a:xfrm>
            <a:off x="800000" y="6150000"/>
            <a:ext cx="10600000" cy="5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1400" b="0">
                <a:solidFill>
                  <a:srgbClr val="B8D9EE"/>
                </a:solidFill>
                <a:latin typeface="Calibri"/>
              </a:rPr>
              <a:t>OMS / Bureau Régional pour l’Afrique – Integrated African Health Observatory (iAHO)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Programme de la formation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54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Présentation et connexion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Le tableau de bord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Navigation : les 12 menus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Indicateurs &amp; données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UHC Clock (Couverture Santé Universelle)</a:t>
            </a:r>
          </a:p>
        </p:txBody>
      </p:sp>
      <p:sp>
        <p:nvSpPr>
          <p:cNvPr id="5" name="text5"/>
          <p:cNvSpPr>
            <a:spLocks noGrp="1"/>
          </p:cNvSpPr>
          <p:nvPr/>
        </p:nvSpPr>
        <p:spPr>
          <a:xfrm>
            <a:off x="6200000" y="1700000"/>
            <a:ext cx="54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Établissements &amp; Ressources humaines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Services de santé &amp; Éléments de données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Publications &amp; Localisations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Intégration, Qualité &amp; API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Utilisateurs &amp; bonnes pratiques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1. Présentation &amp; connexion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Portail de saisie des données de santé de la Région africaine de l’OMS (plateforme iAHO).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Multi-pays : chaque utilisateur travaille dans le contexte de son pays (/admin/{code-pays}).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Multilingue : anglais, français, portugais (sélecteur de langue).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Connexion via compte Microsoft de l’OMS (SSO) ou local e-mail/mot de passe.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Un compte super admin régional voit la Région africaine (code « af ») et tous les pays.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Chaque saisie est tracée et passe par un workflow d’approbation.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2. Tableau de bord</a:t>
            </a:r>
          </a:p>
        </p:txBody>
      </p:sp>
      <p:pic>
        <p:nvPicPr>
          <p:cNvPr id="101" name="pic101"/>
          <p:cNvPicPr>
            <a:picLocks noGrp="1" noChangeAspect="1"/>
          </p:cNvPicPr>
          <p:nvPr/>
        </p:nvPicPr>
        <a:xfrm>
          <a:off x="1590000" y="1150000"/>
          <a:ext cx="3280000" cy="2050000"/>
        </a:xfrm>
        <p:blipFill>
          <a:blip r:embed="rIdImg1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1" name="text201"/>
          <p:cNvSpPr>
            <a:spLocks noGrp="1"/>
          </p:cNvSpPr>
          <p:nvPr/>
        </p:nvSpPr>
        <p:spPr>
          <a:xfrm>
            <a:off x="50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Vue d’ensemble : cartes statut (approuvé / en attente / rejeté), graphiques et tableaux des dernières saisies.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3. Les 12 menus principaux</a:t>
            </a:r>
          </a:p>
        </p:txBody>
      </p:sp>
      <p:sp>
        <p:nvSpPr>
          <p:cNvPr id="11" name="rect11"/>
          <p:cNvSpPr>
            <a:spLocks noGrp="1"/>
          </p:cNvSpPr>
          <p:nvPr/>
        </p:nvSpPr>
        <p:spPr>
          <a:xfrm>
            <a:off x="700000" y="1750000"/>
            <a:ext cx="5300000" cy="800000"/>
          </a:xfrm>
          <a:prstGeom prst="roundRect">
            <a:avLst>
              <a:gd name="adj" fmla="val 8000"/>
            </a:avLst>
          </a:prstGeom>
          <a:ln>
            <a:noFill/>
          </a:ln>
          <a:solidFill>
            <a:srgbClr val="0093D5"/>
          </a:solidFill>
        </p:spPr>
      </p:sp>
      <p:sp>
        <p:nvSpPr>
          <p:cNvPr id="31" name="text31"/>
          <p:cNvSpPr>
            <a:spLocks noGrp="1"/>
          </p:cNvSpPr>
          <p:nvPr/>
        </p:nvSpPr>
        <p:spPr>
          <a:xfrm>
            <a:off x="840000" y="1910000"/>
            <a:ext cx="5020000" cy="4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1600" b="1">
                <a:solidFill>
                  <a:srgbClr val="FFFFFF"/>
                </a:solidFill>
                <a:latin typeface="Calibri"/>
              </a:rPr>
              <a:t>01  Indicateurs</a:t>
            </a:r>
          </a:p>
        </p:txBody>
      </p:sp>
      <p:sp>
        <p:nvSpPr>
          <p:cNvPr id="12" name="rect12"/>
          <p:cNvSpPr>
            <a:spLocks noGrp="1"/>
          </p:cNvSpPr>
          <p:nvPr/>
        </p:nvSpPr>
        <p:spPr>
          <a:xfrm>
            <a:off x="6120000" y="1750000"/>
            <a:ext cx="5300000" cy="800000"/>
          </a:xfrm>
          <a:prstGeom prst="roundRect">
            <a:avLst>
              <a:gd name="adj" fmla="val 8000"/>
            </a:avLst>
          </a:prstGeom>
          <a:ln>
            <a:noFill/>
          </a:ln>
          <a:solidFill>
            <a:srgbClr val="0093D5"/>
          </a:solidFill>
        </p:spPr>
      </p:sp>
      <p:sp>
        <p:nvSpPr>
          <p:cNvPr id="32" name="text32"/>
          <p:cNvSpPr>
            <a:spLocks noGrp="1"/>
          </p:cNvSpPr>
          <p:nvPr/>
        </p:nvSpPr>
        <p:spPr>
          <a:xfrm>
            <a:off x="6260000" y="1910000"/>
            <a:ext cx="5020000" cy="4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1600" b="1">
                <a:solidFill>
                  <a:srgbClr val="FFFFFF"/>
                </a:solidFill>
                <a:latin typeface="Calibri"/>
              </a:rPr>
              <a:t>02  UHC Clock</a:t>
            </a:r>
          </a:p>
        </p:txBody>
      </p:sp>
      <p:sp>
        <p:nvSpPr>
          <p:cNvPr id="13" name="rect13"/>
          <p:cNvSpPr>
            <a:spLocks noGrp="1"/>
          </p:cNvSpPr>
          <p:nvPr/>
        </p:nvSpPr>
        <p:spPr>
          <a:xfrm>
            <a:off x="11540000" y="1750000"/>
            <a:ext cx="5300000" cy="800000"/>
          </a:xfrm>
          <a:prstGeom prst="roundRect">
            <a:avLst>
              <a:gd name="adj" fmla="val 8000"/>
            </a:avLst>
          </a:prstGeom>
          <a:ln>
            <a:noFill/>
          </a:ln>
          <a:solidFill>
            <a:srgbClr val="0093D5"/>
          </a:solidFill>
        </p:spPr>
      </p:sp>
      <p:sp>
        <p:nvSpPr>
          <p:cNvPr id="33" name="text33"/>
          <p:cNvSpPr>
            <a:spLocks noGrp="1"/>
          </p:cNvSpPr>
          <p:nvPr/>
        </p:nvSpPr>
        <p:spPr>
          <a:xfrm>
            <a:off x="11680000" y="1910000"/>
            <a:ext cx="5020000" cy="4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1600" b="1">
                <a:solidFill>
                  <a:srgbClr val="FFFFFF"/>
                </a:solidFill>
                <a:latin typeface="Calibri"/>
              </a:rPr>
              <a:t>03  Établissements</a:t>
            </a:r>
          </a:p>
        </p:txBody>
      </p:sp>
      <p:sp>
        <p:nvSpPr>
          <p:cNvPr id="14" name="rect14"/>
          <p:cNvSpPr>
            <a:spLocks noGrp="1"/>
          </p:cNvSpPr>
          <p:nvPr/>
        </p:nvSpPr>
        <p:spPr>
          <a:xfrm>
            <a:off x="16960000" y="1750000"/>
            <a:ext cx="5300000" cy="800000"/>
          </a:xfrm>
          <a:prstGeom prst="roundRect">
            <a:avLst>
              <a:gd name="adj" fmla="val 8000"/>
            </a:avLst>
          </a:prstGeom>
          <a:ln>
            <a:noFill/>
          </a:ln>
          <a:solidFill>
            <a:srgbClr val="0093D5"/>
          </a:solidFill>
        </p:spPr>
      </p:sp>
      <p:sp>
        <p:nvSpPr>
          <p:cNvPr id="34" name="text34"/>
          <p:cNvSpPr>
            <a:spLocks noGrp="1"/>
          </p:cNvSpPr>
          <p:nvPr/>
        </p:nvSpPr>
        <p:spPr>
          <a:xfrm>
            <a:off x="17100000" y="1910000"/>
            <a:ext cx="5020000" cy="4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1600" b="1">
                <a:solidFill>
                  <a:srgbClr val="FFFFFF"/>
                </a:solidFill>
                <a:latin typeface="Calibri"/>
              </a:rPr>
              <a:t>04  Health workforce</a:t>
            </a:r>
          </a:p>
        </p:txBody>
      </p:sp>
      <p:sp>
        <p:nvSpPr>
          <p:cNvPr id="15" name="rect15"/>
          <p:cNvSpPr>
            <a:spLocks noGrp="1"/>
          </p:cNvSpPr>
          <p:nvPr/>
        </p:nvSpPr>
        <p:spPr>
          <a:xfrm>
            <a:off x="700000" y="2810000"/>
            <a:ext cx="5300000" cy="800000"/>
          </a:xfrm>
          <a:prstGeom prst="roundRect">
            <a:avLst>
              <a:gd name="adj" fmla="val 8000"/>
            </a:avLst>
          </a:prstGeom>
          <a:ln>
            <a:noFill/>
          </a:ln>
          <a:solidFill>
            <a:srgbClr val="0093D5"/>
          </a:solidFill>
        </p:spPr>
      </p:sp>
      <p:sp>
        <p:nvSpPr>
          <p:cNvPr id="35" name="text35"/>
          <p:cNvSpPr>
            <a:spLocks noGrp="1"/>
          </p:cNvSpPr>
          <p:nvPr/>
        </p:nvSpPr>
        <p:spPr>
          <a:xfrm>
            <a:off x="840000" y="2970000"/>
            <a:ext cx="5020000" cy="4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1600" b="1">
                <a:solidFill>
                  <a:srgbClr val="FFFFFF"/>
                </a:solidFill>
                <a:latin typeface="Calibri"/>
              </a:rPr>
              <a:t>05  Services de santé</a:t>
            </a:r>
          </a:p>
        </p:txBody>
      </p:sp>
      <p:sp>
        <p:nvSpPr>
          <p:cNvPr id="16" name="rect16"/>
          <p:cNvSpPr>
            <a:spLocks noGrp="1"/>
          </p:cNvSpPr>
          <p:nvPr/>
        </p:nvSpPr>
        <p:spPr>
          <a:xfrm>
            <a:off x="6120000" y="2810000"/>
            <a:ext cx="5300000" cy="800000"/>
          </a:xfrm>
          <a:prstGeom prst="roundRect">
            <a:avLst>
              <a:gd name="adj" fmla="val 8000"/>
            </a:avLst>
          </a:prstGeom>
          <a:ln>
            <a:noFill/>
          </a:ln>
          <a:solidFill>
            <a:srgbClr val="0093D5"/>
          </a:solidFill>
        </p:spPr>
      </p:sp>
      <p:sp>
        <p:nvSpPr>
          <p:cNvPr id="36" name="text36"/>
          <p:cNvSpPr>
            <a:spLocks noGrp="1"/>
          </p:cNvSpPr>
          <p:nvPr/>
        </p:nvSpPr>
        <p:spPr>
          <a:xfrm>
            <a:off x="6260000" y="2970000"/>
            <a:ext cx="5020000" cy="4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1600" b="1">
                <a:solidFill>
                  <a:srgbClr val="FFFFFF"/>
                </a:solidFill>
                <a:latin typeface="Calibri"/>
              </a:rPr>
              <a:t>06  Éléments de données</a:t>
            </a:r>
          </a:p>
        </p:txBody>
      </p:sp>
      <p:sp>
        <p:nvSpPr>
          <p:cNvPr id="17" name="rect17"/>
          <p:cNvSpPr>
            <a:spLocks noGrp="1"/>
          </p:cNvSpPr>
          <p:nvPr/>
        </p:nvSpPr>
        <p:spPr>
          <a:xfrm>
            <a:off x="11540000" y="2810000"/>
            <a:ext cx="5300000" cy="800000"/>
          </a:xfrm>
          <a:prstGeom prst="roundRect">
            <a:avLst>
              <a:gd name="adj" fmla="val 8000"/>
            </a:avLst>
          </a:prstGeom>
          <a:ln>
            <a:noFill/>
          </a:ln>
          <a:solidFill>
            <a:srgbClr val="0093D5"/>
          </a:solidFill>
        </p:spPr>
      </p:sp>
      <p:sp>
        <p:nvSpPr>
          <p:cNvPr id="37" name="text37"/>
          <p:cNvSpPr>
            <a:spLocks noGrp="1"/>
          </p:cNvSpPr>
          <p:nvPr/>
        </p:nvSpPr>
        <p:spPr>
          <a:xfrm>
            <a:off x="11680000" y="2970000"/>
            <a:ext cx="5020000" cy="4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1600" b="1">
                <a:solidFill>
                  <a:srgbClr val="FFFFFF"/>
                </a:solidFill>
                <a:latin typeface="Calibri"/>
              </a:rPr>
              <a:t>07  Publications</a:t>
            </a:r>
          </a:p>
        </p:txBody>
      </p:sp>
      <p:sp>
        <p:nvSpPr>
          <p:cNvPr id="18" name="rect18"/>
          <p:cNvSpPr>
            <a:spLocks noGrp="1"/>
          </p:cNvSpPr>
          <p:nvPr/>
        </p:nvSpPr>
        <p:spPr>
          <a:xfrm>
            <a:off x="16960000" y="2810000"/>
            <a:ext cx="5300000" cy="800000"/>
          </a:xfrm>
          <a:prstGeom prst="roundRect">
            <a:avLst>
              <a:gd name="adj" fmla="val 8000"/>
            </a:avLst>
          </a:prstGeom>
          <a:ln>
            <a:noFill/>
          </a:ln>
          <a:solidFill>
            <a:srgbClr val="0093D5"/>
          </a:solidFill>
        </p:spPr>
      </p:sp>
      <p:sp>
        <p:nvSpPr>
          <p:cNvPr id="38" name="text38"/>
          <p:cNvSpPr>
            <a:spLocks noGrp="1"/>
          </p:cNvSpPr>
          <p:nvPr/>
        </p:nvSpPr>
        <p:spPr>
          <a:xfrm>
            <a:off x="17100000" y="2970000"/>
            <a:ext cx="5020000" cy="4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1600" b="1">
                <a:solidFill>
                  <a:srgbClr val="FFFFFF"/>
                </a:solidFill>
                <a:latin typeface="Calibri"/>
              </a:rPr>
              <a:t>08  Localisations</a:t>
            </a:r>
          </a:p>
        </p:txBody>
      </p:sp>
      <p:sp>
        <p:nvSpPr>
          <p:cNvPr id="19" name="rect19"/>
          <p:cNvSpPr>
            <a:spLocks noGrp="1"/>
          </p:cNvSpPr>
          <p:nvPr/>
        </p:nvSpPr>
        <p:spPr>
          <a:xfrm>
            <a:off x="700000" y="3870000"/>
            <a:ext cx="5300000" cy="800000"/>
          </a:xfrm>
          <a:prstGeom prst="roundRect">
            <a:avLst>
              <a:gd name="adj" fmla="val 8000"/>
            </a:avLst>
          </a:prstGeom>
          <a:ln>
            <a:noFill/>
          </a:ln>
          <a:solidFill>
            <a:srgbClr val="0093D5"/>
          </a:solidFill>
        </p:spPr>
      </p:sp>
      <p:sp>
        <p:nvSpPr>
          <p:cNvPr id="39" name="text39"/>
          <p:cNvSpPr>
            <a:spLocks noGrp="1"/>
          </p:cNvSpPr>
          <p:nvPr/>
        </p:nvSpPr>
        <p:spPr>
          <a:xfrm>
            <a:off x="840000" y="4030000"/>
            <a:ext cx="5020000" cy="4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1600" b="1">
                <a:solidFill>
                  <a:srgbClr val="FFFFFF"/>
                </a:solidFill>
                <a:latin typeface="Calibri"/>
              </a:rPr>
              <a:t>09  Intégration de données</a:t>
            </a:r>
          </a:p>
        </p:txBody>
      </p:sp>
      <p:sp>
        <p:nvSpPr>
          <p:cNvPr id="20" name="rect20"/>
          <p:cNvSpPr>
            <a:spLocks noGrp="1"/>
          </p:cNvSpPr>
          <p:nvPr/>
        </p:nvSpPr>
        <p:spPr>
          <a:xfrm>
            <a:off x="6120000" y="3870000"/>
            <a:ext cx="5300000" cy="800000"/>
          </a:xfrm>
          <a:prstGeom prst="roundRect">
            <a:avLst>
              <a:gd name="adj" fmla="val 8000"/>
            </a:avLst>
          </a:prstGeom>
          <a:ln>
            <a:noFill/>
          </a:ln>
          <a:solidFill>
            <a:srgbClr val="0093D5"/>
          </a:solidFill>
        </p:spPr>
      </p:sp>
      <p:sp>
        <p:nvSpPr>
          <p:cNvPr id="40" name="text40"/>
          <p:cNvSpPr>
            <a:spLocks noGrp="1"/>
          </p:cNvSpPr>
          <p:nvPr/>
        </p:nvSpPr>
        <p:spPr>
          <a:xfrm>
            <a:off x="6260000" y="4030000"/>
            <a:ext cx="5020000" cy="4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1600" b="1">
                <a:solidFill>
                  <a:srgbClr val="FFFFFF"/>
                </a:solidFill>
                <a:latin typeface="Calibri"/>
              </a:rPr>
              <a:t>10  Qualité des données</a:t>
            </a:r>
          </a:p>
        </p:txBody>
      </p:sp>
      <p:sp>
        <p:nvSpPr>
          <p:cNvPr id="21" name="rect21"/>
          <p:cNvSpPr>
            <a:spLocks noGrp="1"/>
          </p:cNvSpPr>
          <p:nvPr/>
        </p:nvSpPr>
        <p:spPr>
          <a:xfrm>
            <a:off x="11540000" y="3870000"/>
            <a:ext cx="5300000" cy="800000"/>
          </a:xfrm>
          <a:prstGeom prst="roundRect">
            <a:avLst>
              <a:gd name="adj" fmla="val 8000"/>
            </a:avLst>
          </a:prstGeom>
          <a:ln>
            <a:noFill/>
          </a:ln>
          <a:solidFill>
            <a:srgbClr val="0093D5"/>
          </a:solidFill>
        </p:spPr>
      </p:sp>
      <p:sp>
        <p:nvSpPr>
          <p:cNvPr id="41" name="text41"/>
          <p:cNvSpPr>
            <a:spLocks noGrp="1"/>
          </p:cNvSpPr>
          <p:nvPr/>
        </p:nvSpPr>
        <p:spPr>
          <a:xfrm>
            <a:off x="11680000" y="4030000"/>
            <a:ext cx="5020000" cy="4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1600" b="1">
                <a:solidFill>
                  <a:srgbClr val="FFFFFF"/>
                </a:solidFill>
                <a:latin typeface="Calibri"/>
              </a:rPr>
              <a:t>11  Jetons API</a:t>
            </a:r>
          </a:p>
        </p:txBody>
      </p:sp>
      <p:sp>
        <p:nvSpPr>
          <p:cNvPr id="22" name="rect22"/>
          <p:cNvSpPr>
            <a:spLocks noGrp="1"/>
          </p:cNvSpPr>
          <p:nvPr/>
        </p:nvSpPr>
        <p:spPr>
          <a:xfrm>
            <a:off x="16960000" y="3870000"/>
            <a:ext cx="5300000" cy="800000"/>
          </a:xfrm>
          <a:prstGeom prst="roundRect">
            <a:avLst>
              <a:gd name="adj" fmla="val 8000"/>
            </a:avLst>
          </a:prstGeom>
          <a:ln>
            <a:noFill/>
          </a:ln>
          <a:solidFill>
            <a:srgbClr val="0093D5"/>
          </a:solidFill>
        </p:spPr>
      </p:sp>
      <p:sp>
        <p:nvSpPr>
          <p:cNvPr id="42" name="text42"/>
          <p:cNvSpPr>
            <a:spLocks noGrp="1"/>
          </p:cNvSpPr>
          <p:nvPr/>
        </p:nvSpPr>
        <p:spPr>
          <a:xfrm>
            <a:off x="17100000" y="4030000"/>
            <a:ext cx="5020000" cy="4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1600" b="1">
                <a:solidFill>
                  <a:srgbClr val="FFFFFF"/>
                </a:solidFill>
                <a:latin typeface="Calibri"/>
              </a:rPr>
              <a:t>12  Authentification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4. Indicateurs – définitions</a:t>
            </a:r>
          </a:p>
        </p:txBody>
      </p:sp>
      <p:pic>
        <p:nvPicPr>
          <p:cNvPr id="101" name="pic101"/>
          <p:cNvPicPr>
            <a:picLocks noGrp="1" noChangeAspect="1"/>
          </p:cNvPicPr>
          <p:nvPr/>
        </p:nvPicPr>
        <a:xfrm>
          <a:off x="1590000" y="1150000"/>
          <a:ext cx="3280000" cy="2050000"/>
        </a:xfrm>
        <p:blipFill>
          <a:blip r:embed="rIdImg1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1" name="text201"/>
          <p:cNvSpPr>
            <a:spLocks noGrp="1"/>
          </p:cNvSpPr>
          <p:nvPr/>
        </p:nvSpPr>
        <p:spPr>
          <a:xfrm>
            <a:off x="50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Définitions des indicateurs : métadonnées, codes AFRO, catégories et périodes.</a:t>
            </a:r>
          </a:p>
        </p:txBody>
      </p:sp>
      <p:pic>
        <p:nvPicPr>
          <p:cNvPr id="102" name="pic102"/>
          <p:cNvPicPr>
            <a:picLocks noGrp="1" noChangeAspect="1"/>
          </p:cNvPicPr>
          <p:nvPr/>
        </p:nvPicPr>
        <a:xfrm>
          <a:off x="7330000" y="1150000"/>
          <a:ext cx="3280000" cy="2050000"/>
        </a:xfrm>
        <p:blipFill>
          <a:blip r:embed="rIdImg2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2" name="text202"/>
          <p:cNvSpPr>
            <a:spLocks noGrp="1"/>
          </p:cNvSpPr>
          <p:nvPr/>
        </p:nvSpPr>
        <p:spPr>
          <a:xfrm>
            <a:off x="624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Sources de données : liste des sources utilisées pour alimenter les valeurs.</a:t>
            </a:r>
          </a:p>
        </p:txBody>
      </p:sp>
      <p:pic>
        <p:nvPicPr>
          <p:cNvPr id="103" name="pic103"/>
          <p:cNvPicPr>
            <a:picLocks noGrp="1" noChangeAspect="1"/>
          </p:cNvPicPr>
          <p:nvPr/>
        </p:nvPicPr>
        <a:xfrm>
          <a:off x="1590000" y="3550000"/>
          <a:ext cx="3280000" cy="2050000"/>
        </a:xfrm>
        <p:blipFill>
          <a:blip r:embed="rIdImg3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3" name="text203"/>
          <p:cNvSpPr>
            <a:spLocks noGrp="1"/>
          </p:cNvSpPr>
          <p:nvPr/>
        </p:nvSpPr>
        <p:spPr>
          <a:xfrm>
            <a:off x="500000" y="56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Méthodes de mesure : unités et conventions de calcul.</a:t>
            </a:r>
          </a:p>
        </p:txBody>
      </p:sp>
      <p:pic>
        <p:nvPicPr>
          <p:cNvPr id="104" name="pic104"/>
          <p:cNvPicPr>
            <a:picLocks noGrp="1" noChangeAspect="1"/>
          </p:cNvPicPr>
          <p:nvPr/>
        </p:nvPicPr>
        <a:xfrm>
          <a:off x="7330000" y="3550000"/>
          <a:ext cx="3280000" cy="2050000"/>
        </a:xfrm>
        <p:blipFill>
          <a:blip r:embed="rIdImg4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4" name="text204"/>
          <p:cNvSpPr>
            <a:spLocks noGrp="1"/>
          </p:cNvSpPr>
          <p:nvPr/>
        </p:nvSpPr>
        <p:spPr>
          <a:xfrm>
            <a:off x="6240000" y="56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Références : références documentaires des indicateurs.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4. Indicateurs – valeurs</a:t>
            </a:r>
          </a:p>
        </p:txBody>
      </p:sp>
      <p:pic>
        <p:nvPicPr>
          <p:cNvPr id="101" name="pic101"/>
          <p:cNvPicPr>
            <a:picLocks noGrp="1" noChangeAspect="1"/>
          </p:cNvPicPr>
          <p:nvPr/>
        </p:nvPicPr>
        <a:xfrm>
          <a:off x="1590000" y="1150000"/>
          <a:ext cx="3280000" cy="2050000"/>
        </a:xfrm>
        <p:blipFill>
          <a:blip r:embed="rIdImg1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1" name="text201"/>
          <p:cNvSpPr>
            <a:spLocks noGrp="1"/>
          </p:cNvSpPr>
          <p:nvPr/>
        </p:nvSpPr>
        <p:spPr>
          <a:xfrm>
            <a:off x="50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Valeurs d’indicateurs : saisie, filtres par pays/source/statut, actions d’approbation.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4. Saisie &amp; import (workflow)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Ajouter une valeur : Indicateurs &gt; Valeurs, bouton « Add indicator value ».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Renseigner indicateur, localisation (pays), période, catégorie, source, méthode.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Valeur reçue OU texte, numérateur, dénominateur, min, max, cible, priorité.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Enregistrement → statut « En attente d’approbation » (Pending).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Import de masse : Indicateurs &gt; Import (4 étapes) – fichier Excel .xlsx, correspondances, confirmation, chargement.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Statuts : En attente, Approuvé, Rejeté – seuls les utilisateurs avec permission approuvent.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5. UHC Clock</a:t>
            </a:r>
          </a:p>
        </p:txBody>
      </p:sp>
      <p:pic>
        <p:nvPicPr>
          <p:cNvPr id="101" name="pic101"/>
          <p:cNvPicPr>
            <a:picLocks noGrp="1" noChangeAspect="1"/>
          </p:cNvPicPr>
          <p:nvPr/>
        </p:nvPicPr>
        <a:xfrm>
          <a:off x="1590000" y="1150000"/>
          <a:ext cx="3280000" cy="2050000"/>
        </a:xfrm>
        <p:blipFill>
          <a:blip r:embed="rIdImg1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1" name="text201"/>
          <p:cNvSpPr>
            <a:spLocks noGrp="1"/>
          </p:cNvSpPr>
          <p:nvPr/>
        </p:nvSpPr>
        <p:spPr>
          <a:xfrm>
            <a:off x="50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Thèmes UHC : les grands thèmes de la Couverture Santé Universelle.</a:t>
            </a:r>
          </a:p>
        </p:txBody>
      </p:sp>
      <p:pic>
        <p:nvPicPr>
          <p:cNvPr id="102" name="pic102"/>
          <p:cNvPicPr>
            <a:picLocks noGrp="1" noChangeAspect="1"/>
          </p:cNvPicPr>
          <p:nvPr/>
        </p:nvPicPr>
        <a:xfrm>
          <a:off x="7330000" y="1150000"/>
          <a:ext cx="3280000" cy="2050000"/>
        </a:xfrm>
        <p:blipFill>
          <a:blip r:embed="rIdImg2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2" name="text202"/>
          <p:cNvSpPr>
            <a:spLocks noGrp="1"/>
          </p:cNvSpPr>
          <p:nvPr/>
        </p:nvSpPr>
        <p:spPr>
          <a:xfrm>
            <a:off x="624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Groupes : organisation des indicateurs par groupe.</a:t>
            </a:r>
          </a:p>
        </p:txBody>
      </p:sp>
      <p:pic>
        <p:nvPicPr>
          <p:cNvPr id="103" name="pic103"/>
          <p:cNvPicPr>
            <a:picLocks noGrp="1" noChangeAspect="1"/>
          </p:cNvPicPr>
          <p:nvPr/>
        </p:nvPicPr>
        <a:xfrm>
          <a:off x="1590000" y="3550000"/>
          <a:ext cx="3280000" cy="2050000"/>
        </a:xfrm>
        <p:blipFill>
          <a:blip r:embed="rIdImg3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3" name="text203"/>
          <p:cNvSpPr>
            <a:spLocks noGrp="1"/>
          </p:cNvSpPr>
          <p:nvPr/>
        </p:nvSpPr>
        <p:spPr>
          <a:xfrm>
            <a:off x="500000" y="56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Indicateurs UHC : indicateurs suivis pour l’horloge UHC.</a:t>
            </a:r>
          </a:p>
        </p:txBody>
      </p:sp>
      <p:pic>
        <p:nvPicPr>
          <p:cNvPr id="104" name="pic104"/>
          <p:cNvPicPr>
            <a:picLocks noGrp="1" noChangeAspect="1"/>
          </p:cNvPicPr>
          <p:nvPr/>
        </p:nvPicPr>
        <a:xfrm>
          <a:off x="7330000" y="3550000"/>
          <a:ext cx="3280000" cy="2050000"/>
        </a:xfrm>
        <p:blipFill>
          <a:blip r:embed="rIdImg4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4" name="text204"/>
          <p:cNvSpPr>
            <a:spLocks noGrp="1"/>
          </p:cNvSpPr>
          <p:nvPr/>
        </p:nvSpPr>
        <p:spPr>
          <a:xfrm>
            <a:off x="6240000" y="56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Indicateurs prioritaires : valeurs par pays (horloge).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5. UHC Clock – progression</a:t>
            </a:r>
          </a:p>
        </p:txBody>
      </p:sp>
      <p:pic>
        <p:nvPicPr>
          <p:cNvPr id="101" name="pic101"/>
          <p:cNvPicPr>
            <a:picLocks noGrp="1" noChangeAspect="1"/>
          </p:cNvPicPr>
          <p:nvPr/>
        </p:nvPicPr>
        <a:xfrm>
          <a:off x="1590000" y="1150000"/>
          <a:ext cx="3280000" cy="2050000"/>
        </a:xfrm>
        <p:blipFill>
          <a:blip r:embed="rIdImg1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1" name="text201"/>
          <p:cNvSpPr>
            <a:spLocks noGrp="1"/>
          </p:cNvSpPr>
          <p:nvPr/>
        </p:nvSpPr>
        <p:spPr>
          <a:xfrm>
            <a:off x="50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Progression UHC : horloge à 4 niveaux – Jour (impact), Heure (suivi/finance), Minute (performance), Seconde (intrants).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6. Établissements</a:t>
            </a:r>
          </a:p>
        </p:txBody>
      </p:sp>
      <p:pic>
        <p:nvPicPr>
          <p:cNvPr id="101" name="pic101"/>
          <p:cNvPicPr>
            <a:picLocks noGrp="1" noChangeAspect="1"/>
          </p:cNvPicPr>
          <p:nvPr/>
        </p:nvPicPr>
        <a:xfrm>
          <a:off x="1590000" y="1150000"/>
          <a:ext cx="3280000" cy="2050000"/>
        </a:xfrm>
        <p:blipFill>
          <a:blip r:embed="rIdImg1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1" name="text201"/>
          <p:cNvSpPr>
            <a:spLocks noGrp="1"/>
          </p:cNvSpPr>
          <p:nvPr/>
        </p:nvSpPr>
        <p:spPr>
          <a:xfrm>
            <a:off x="50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Établissements : données maîtres des formations sanitaires.</a:t>
            </a:r>
          </a:p>
        </p:txBody>
      </p:sp>
      <p:pic>
        <p:nvPicPr>
          <p:cNvPr id="102" name="pic102"/>
          <p:cNvPicPr>
            <a:picLocks noGrp="1" noChangeAspect="1"/>
          </p:cNvPicPr>
          <p:nvPr/>
        </p:nvPicPr>
        <a:xfrm>
          <a:off x="7330000" y="1150000"/>
          <a:ext cx="3280000" cy="2050000"/>
        </a:xfrm>
        <p:blipFill>
          <a:blip r:embed="rIdImg2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2" name="text202"/>
          <p:cNvSpPr>
            <a:spLocks noGrp="1"/>
          </p:cNvSpPr>
          <p:nvPr/>
        </p:nvSpPr>
        <p:spPr>
          <a:xfrm>
            <a:off x="624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Types d’établissements : typologie des formations.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6. Health workforce (ressources humaines)</a:t>
            </a:r>
          </a:p>
        </p:txBody>
      </p:sp>
      <p:pic>
        <p:nvPicPr>
          <p:cNvPr id="101" name="pic101"/>
          <p:cNvPicPr>
            <a:picLocks noGrp="1" noChangeAspect="1"/>
          </p:cNvPicPr>
          <p:nvPr/>
        </p:nvPicPr>
        <a:xfrm>
          <a:off x="1590000" y="1150000"/>
          <a:ext cx="3280000" cy="2050000"/>
        </a:xfrm>
        <p:blipFill>
          <a:blip r:embed="rIdImg1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1" name="text201"/>
          <p:cNvSpPr>
            <a:spLocks noGrp="1"/>
          </p:cNvSpPr>
          <p:nvPr/>
        </p:nvSpPr>
        <p:spPr>
          <a:xfrm>
            <a:off x="50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Valeurs de main-d’œuvre : effectifs par cadre, période et source.</a:t>
            </a:r>
          </a:p>
        </p:txBody>
      </p:sp>
      <p:pic>
        <p:nvPicPr>
          <p:cNvPr id="102" name="pic102"/>
          <p:cNvPicPr>
            <a:picLocks noGrp="1" noChangeAspect="1"/>
          </p:cNvPicPr>
          <p:nvPr/>
        </p:nvPicPr>
        <a:xfrm>
          <a:off x="7330000" y="1150000"/>
          <a:ext cx="3280000" cy="2050000"/>
        </a:xfrm>
        <p:blipFill>
          <a:blip r:embed="rIdImg2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2" name="text202"/>
          <p:cNvSpPr>
            <a:spLocks noGrp="1"/>
          </p:cNvSpPr>
          <p:nvPr/>
        </p:nvSpPr>
        <p:spPr>
          <a:xfrm>
            <a:off x="624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Cadres de santé : définition des catégories de personnel.</a:t>
            </a:r>
          </a:p>
        </p:txBody>
      </p:sp>
      <p:pic>
        <p:nvPicPr>
          <p:cNvPr id="103" name="pic103"/>
          <p:cNvPicPr>
            <a:picLocks noGrp="1" noChangeAspect="1"/>
          </p:cNvPicPr>
          <p:nvPr/>
        </p:nvPicPr>
        <a:xfrm>
          <a:off x="1590000" y="3550000"/>
          <a:ext cx="3280000" cy="2050000"/>
        </a:xfrm>
        <p:blipFill>
          <a:blip r:embed="rIdImg3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3" name="text203"/>
          <p:cNvSpPr>
            <a:spLocks noGrp="1"/>
          </p:cNvSpPr>
          <p:nvPr/>
        </p:nvSpPr>
        <p:spPr>
          <a:xfrm>
            <a:off x="500000" y="56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Institutions de formation : établissements de formation en santé.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7. Services de santé</a:t>
            </a:r>
          </a:p>
        </p:txBody>
      </p:sp>
      <p:pic>
        <p:nvPicPr>
          <p:cNvPr id="101" name="pic101"/>
          <p:cNvPicPr>
            <a:picLocks noGrp="1" noChangeAspect="1"/>
          </p:cNvPicPr>
          <p:nvPr/>
        </p:nvPicPr>
        <a:xfrm>
          <a:off x="1590000" y="1150000"/>
          <a:ext cx="3280000" cy="2050000"/>
        </a:xfrm>
        <p:blipFill>
          <a:blip r:embed="rIdImg1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1" name="text201"/>
          <p:cNvSpPr>
            <a:spLocks noGrp="1"/>
          </p:cNvSpPr>
          <p:nvPr/>
        </p:nvSpPr>
        <p:spPr>
          <a:xfrm>
            <a:off x="50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Valeurs des services de santé : suivi des services (disponibilité, capacité, préparation).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7. Éléments de données</a:t>
            </a:r>
          </a:p>
        </p:txBody>
      </p:sp>
      <p:pic>
        <p:nvPicPr>
          <p:cNvPr id="101" name="pic101"/>
          <p:cNvPicPr>
            <a:picLocks noGrp="1" noChangeAspect="1"/>
          </p:cNvPicPr>
          <p:nvPr/>
        </p:nvPicPr>
        <a:xfrm>
          <a:off x="1590000" y="1150000"/>
          <a:ext cx="3280000" cy="2050000"/>
        </a:xfrm>
        <p:blipFill>
          <a:blip r:embed="rIdImg1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1" name="text201"/>
          <p:cNvSpPr>
            <a:spLocks noGrp="1"/>
          </p:cNvSpPr>
          <p:nvPr/>
        </p:nvSpPr>
        <p:spPr>
          <a:xfrm>
            <a:off x="50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Définitions des éléments de données : entrées bas niveau de l’entrepôt.</a:t>
            </a:r>
          </a:p>
        </p:txBody>
      </p:sp>
      <p:pic>
        <p:nvPicPr>
          <p:cNvPr id="102" name="pic102"/>
          <p:cNvPicPr>
            <a:picLocks noGrp="1" noChangeAspect="1"/>
          </p:cNvPicPr>
          <p:nvPr/>
        </p:nvPicPr>
        <a:xfrm>
          <a:off x="7330000" y="1150000"/>
          <a:ext cx="3280000" cy="2050000"/>
        </a:xfrm>
        <p:blipFill>
          <a:blip r:embed="rIdImg2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2" name="text202"/>
          <p:cNvSpPr>
            <a:spLocks noGrp="1"/>
          </p:cNvSpPr>
          <p:nvPr/>
        </p:nvSpPr>
        <p:spPr>
          <a:xfrm>
            <a:off x="624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Groupes d’éléments de données : regroupement logique.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8. Publications</a:t>
            </a:r>
          </a:p>
        </p:txBody>
      </p:sp>
      <p:pic>
        <p:nvPicPr>
          <p:cNvPr id="101" name="pic101"/>
          <p:cNvPicPr>
            <a:picLocks noGrp="1" noChangeAspect="1"/>
          </p:cNvPicPr>
          <p:nvPr/>
        </p:nvPicPr>
        <a:xfrm>
          <a:off x="1590000" y="1150000"/>
          <a:ext cx="3280000" cy="2050000"/>
        </a:xfrm>
        <p:blipFill>
          <a:blip r:embed="rIdImg1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1" name="text201"/>
          <p:cNvSpPr>
            <a:spLocks noGrp="1"/>
          </p:cNvSpPr>
          <p:nvPr/>
        </p:nvSpPr>
        <p:spPr>
          <a:xfrm>
            <a:off x="50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Produits de connaissance : titres, auteurs, résumés, fichiers/URL, workflow d’approbation.</a:t>
            </a:r>
          </a:p>
        </p:txBody>
      </p:sp>
      <p:pic>
        <p:nvPicPr>
          <p:cNvPr id="102" name="pic102"/>
          <p:cNvPicPr>
            <a:picLocks noGrp="1" noChangeAspect="1"/>
          </p:cNvPicPr>
          <p:nvPr/>
        </p:nvPicPr>
        <a:xfrm>
          <a:off x="7330000" y="1150000"/>
          <a:ext cx="3280000" cy="2050000"/>
        </a:xfrm>
        <p:blipFill>
          <a:blip r:embed="rIdImg2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2" name="text202"/>
          <p:cNvSpPr>
            <a:spLocks noGrp="1"/>
          </p:cNvSpPr>
          <p:nvPr/>
        </p:nvSpPr>
        <p:spPr>
          <a:xfrm>
            <a:off x="624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Types de ressources : classification des publications.</a:t>
            </a:r>
          </a:p>
        </p:txBody>
      </p:sp>
      <p:pic>
        <p:nvPicPr>
          <p:cNvPr id="103" name="pic103"/>
          <p:cNvPicPr>
            <a:picLocks noGrp="1" noChangeAspect="1"/>
          </p:cNvPicPr>
          <p:nvPr/>
        </p:nvPicPr>
        <a:xfrm>
          <a:off x="1590000" y="3550000"/>
          <a:ext cx="3280000" cy="2050000"/>
        </a:xfrm>
        <p:blipFill>
          <a:blip r:embed="rIdImg3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3" name="text203"/>
          <p:cNvSpPr>
            <a:spLocks noGrp="1"/>
          </p:cNvSpPr>
          <p:nvPr/>
        </p:nvSpPr>
        <p:spPr>
          <a:xfrm>
            <a:off x="500000" y="56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Catégories de ressources.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8. Localisations</a:t>
            </a:r>
          </a:p>
        </p:txBody>
      </p:sp>
      <p:pic>
        <p:nvPicPr>
          <p:cNvPr id="101" name="pic101"/>
          <p:cNvPicPr>
            <a:picLocks noGrp="1" noChangeAspect="1"/>
          </p:cNvPicPr>
          <p:nvPr/>
        </p:nvPicPr>
        <a:xfrm>
          <a:off x="1590000" y="1150000"/>
          <a:ext cx="3280000" cy="2050000"/>
        </a:xfrm>
        <p:blipFill>
          <a:blip r:embed="rIdImg1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1" name="text201"/>
          <p:cNvSpPr>
            <a:spLocks noGrp="1"/>
          </p:cNvSpPr>
          <p:nvPr/>
        </p:nvSpPr>
        <p:spPr>
          <a:xfrm>
            <a:off x="50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Localisations : hiérarchie (région, pays, provinces, districts) et scoping des données.</a:t>
            </a:r>
          </a:p>
        </p:txBody>
      </p:sp>
      <p:pic>
        <p:nvPicPr>
          <p:cNvPr id="102" name="pic102"/>
          <p:cNvPicPr>
            <a:picLocks noGrp="1" noChangeAspect="1"/>
          </p:cNvPicPr>
          <p:nvPr/>
        </p:nvPicPr>
        <a:xfrm>
          <a:off x="7330000" y="1150000"/>
          <a:ext cx="3280000" cy="2050000"/>
        </a:xfrm>
        <p:blipFill>
          <a:blip r:embed="rIdImg2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2" name="text202"/>
          <p:cNvSpPr>
            <a:spLocks noGrp="1"/>
          </p:cNvSpPr>
          <p:nvPr/>
        </p:nvSpPr>
        <p:spPr>
          <a:xfrm>
            <a:off x="624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Niveaux de localisation (Location levels).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9. Intégration de données</a:t>
            </a:r>
          </a:p>
        </p:txBody>
      </p:sp>
      <p:pic>
        <p:nvPicPr>
          <p:cNvPr id="101" name="pic101"/>
          <p:cNvPicPr>
            <a:picLocks noGrp="1" noChangeAspect="1"/>
          </p:cNvPicPr>
          <p:nvPr/>
        </p:nvPicPr>
        <a:xfrm>
          <a:off x="1590000" y="1150000"/>
          <a:ext cx="3280000" cy="2050000"/>
        </a:xfrm>
        <p:blipFill>
          <a:blip r:embed="rIdImg1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1" name="text201"/>
          <p:cNvSpPr>
            <a:spLocks noGrp="1"/>
          </p:cNvSpPr>
          <p:nvPr/>
        </p:nvSpPr>
        <p:spPr>
          <a:xfrm>
            <a:off x="50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Connexions externes : DHIS2, DataBank, WHO DataHub, AHO warehouse, API REST, mappage des champs.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9. Data Integration – procédure de A à Z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1. Ouvrir Data Integration &gt; Connections, puis cliquer sur Create / New connection.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2. Décrire la source : nom, pays, fournisseur, méthode, statut et fréquence.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3. Renseigner soit la connexion directe à la base, soit l’URL API et l’authentification.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4. Enregistrer, ouvrir Mapping, charger les champs source et proposer les correspondances.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5. Vérifier chaque ligne de mapping, enregistrer, puis lancer Validate configuration.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6. Si tout est correct, synchroniser/importer ; les valeurs arrivent en Pending pour approbation.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9. Data Integration – champs de la connexion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Name : nom lisible de la connexion, par exemple DHIS2 Kenya monthly import.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Country : pays concerné ; pour un admin pays, il est automatiquement limité à son pays.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Provider : type de source externe : DHIS2, DataBank data, WHO DataHub, AHO warehouse ou Other source.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Integration method : Direct connection pour lire une base ; API pour lire un service web.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Status : Draft pour préparer, Active pour utiliser, Paused pour suspendre, Error si la connexion échoue.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Sync frequency : Manual, Hourly, Daily, Weekly ou Monthly selon le rythme prévu.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9. Connexion directe, API et sécurité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Direct connection : Server name, Port, Database type, Database name et Source table / view indiquent où lire les données.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Connection timeout : limite la durée d’essai de connexion, afin d’éviter de bloquer l’interface.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SSL / TLS mode : Disabled, TLS required ou Verify server identity ; en production, privilégier la vérification du serveur.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API URL : adresse du service distant, par exemple un endpoint DHIS2 ou une API nationale.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Authentication : None, Bearer token, API key, Username/password ou OAuth2 client credentials.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Les secrets (password, token, API key, client secret) sont masqués et enregistrés comme informations sensibles.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9. Mapping – rôle de chaque champ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Local field : champ attendu dans le DCT Laravel, par exemple location_id, indicator_id, period ou value_received.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External field(s) : champ venant de la source externe ; plusieurs champs peuvent être séparés par des virgules.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Mapping type : façon dont la valeur externe est transformée avant d’alimenter le DCT.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Reference matching : méthode de résolution pour les référentiels comme pays, indicateur, catégorie, source ou méthode.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Required : rend la correspondance obligatoire avant validation de la configuration.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Default value, Transformation rule et Notes : valeur de secours, règle métier et commentaire de documentation.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9. Mapping type – signification des valeurs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Direct mapping : copie la valeur source vers le champ local ; utile pour année, période, valeur, numérateur, dénominateur.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Reference lookup : cherche le code ou libellé source dans un référentiel local et conserve l’identifiant interne.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Computed value : calcule une valeur locale à partir d’un ou plusieurs champs sources, par exemple une période ou un ratio.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Conditional rule : applique une règle selon le contenu source, par exemple âge + sexe vers une seule catégorie locale.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Skip : ignore volontairement un champ source ; utile pour documenter une colonne reçue mais non utilisée.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Toujours vérifier les mappings proposés automatiquement avant d’enregistrer.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9. Reference matching – comment résoudre les référentiels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Automatic : essaie d’abord un code stable, puis le libellé ; c’est l’option la plus sûre pour commencer.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Stable code : utilise un code officiel comme ISO pays, AFRO code, code source ou code méthode.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Name / label : utilise le nom affiché ; à éviter si plusieurs libellés peuvent se ressembler.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Source identifier : utilise l’identifiant technique de la source externe lorsqu’il est stable et documenté.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Les champs concernés sont location_id, indicator_id, categoryoption_id, datasource_id et measuremethod_id.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Si aucune correspondance fiable n’est trouvée, la ligne doit être corrigée avant validation ou approbation.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9. Boutons et actions du module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Mapping : ouvre la page de correspondance des champs pour la connexion sélectionnée.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Load source fields : relit la source enregistrée et charge les colonnes/champs disponibles.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Suggest mappings : propose des correspondances selon les noms de champs détectés.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Add mapping : ajoute une ligne manuelle lorsque la proposition automatique ne suffit pas.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Save mapping / Back to connections : enregistre la configuration ou revient à la liste des connexions.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Validate configuration vérifie la connexion et le mapping ; Sync DHIS2 importe les données DHIS2 en Pending.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9. Après import : contrôle et approbation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Les données importées ne doivent pas devenir automatiquement approuvées.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Elles apparaissent dans Indicators &gt; Values avec le statut Pending.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L’administrateur vérifie le pays, l’indicateur, la période, la source, la méthode et la valeur.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Si la donnée est correcte, il approuve ; si elle est incohérente, il corrige ou rejette.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Ce workflow garde la traçabilité : source externe, date d’import, utilisateur et statut.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La finalité du module est d’accélérer l’import sans perdre le contrôle qualité.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9. Data Integration – end-to-end procedure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1. Open Data Integration &gt; Connections, then create a new connection.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2. Describe the source: name, country, provider, method, status and sync frequency.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3. Enter either direct database settings or API URL and authentication details.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4. Save, open Mapping, load source fields and generate suggested mappings.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5. Review every mapping row, save it, then run Validate configuration.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6. When valid, synchronize/import; imported values remain Pending until approval.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9. Data Integration – connection fields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Name: readable connection label, for example DHIS2 Kenya monthly import.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Country: target country; country administrators are automatically scoped to their country.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Provider: external source type: DHIS2, DataBank data, WHO DataHub, AHO warehouse or Other source.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Integration method: Direct connection reads a database; API reads a web service.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Status: Draft for setup, Active for use, Paused to suspend, Error when the connection fails.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Sync frequency: Manual, Hourly, Daily, Weekly or Monthly according to the expected rhythm.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9. Direct connection, API and security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Direct connection: Server name, Port, Database type, Database name and Source table/view define where to read data.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Connection timeout: limits connection attempts so the interface does not hang.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SSL / TLS mode: Disabled, TLS required or Verify server identity; production should verify the server identity.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API URL: remote service address, such as a DHIS2 endpoint or a national API.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Authentication: None, Bearer token, API key, Username/password or OAuth2 client credentials.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Passwords, tokens, API keys and client secrets are hidden and stored as sensitive information.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9. Mapping – field roles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Local field: DCT Laravel target field, such as location_id, indicator_id, period or value_received.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External field(s): source-side field; several source fields may be separated by commas.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Mapping type: explains how the external value is transformed before feeding the DCT.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Reference matching: matching method for countries, indicators, categories, sources and measure methods.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Required: makes the mapping mandatory before configuration validation.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Default value, Transformation rule and Notes: fallback value, business rule and documentation note.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9. Mapping type – meaning of each value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Direct mapping: copies the source value to the local field; useful for year, period, value, numerator and denominator.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Reference lookup: resolves a source code or label against a local reference table and stores the internal ID.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Computed value: calculates a local value from one or more source fields, for example a period or ratio.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Conditional rule: applies logic based on source content, for example age + sex into one local category option.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Skip: intentionally ignores a source field while documenting that it was received but not used.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Always review automatic mapping suggestions before saving them.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9. Reference matching – resolving reference data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Automatic: tries a stable code first, then the label; it is the safest starting option.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Stable code: uses an official code such as country ISO, AFRO code, source code or measure method code.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Name / label: uses the displayed name; avoid it when several labels may be similar.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Source identifier: uses the external technical identifier when it is stable and documented.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Reference matching applies to location_id, indicator_id, categoryoption_id, datasource_id and measuremethod_id.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Unmatched or ambiguous values must be corrected before validation or approval.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9. Module buttons and workflow actions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Mapping: opens the field mapping page for the selected connection.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Load source fields: reads the saved source and loads available fields or columns.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Suggest mappings: prepares automatic mappings from detected field names.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Add mapping: adds a manual mapping row when automatic suggestions are not enough.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Save mapping / Back to connections: saves the configuration or returns to the connection list.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Validate configuration checks connection and mapping; Sync DHIS2 imports DHIS2 data as Pending.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9. After import: review and approval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Imported values should not become automatically approved.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They appear in Indicators &gt; Values with the Pending status.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The administrator checks country, indicator, period, source, method and value.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If the value is correct, approve it; if inconsistent, correct it or reject it.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The workflow preserves traceability: external source, import date, user and status.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The module speeds up import while keeping data quality control in place.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10. Qualité des données</a:t>
            </a:r>
          </a:p>
        </p:txBody>
      </p:sp>
      <p:pic>
        <p:nvPicPr>
          <p:cNvPr id="101" name="pic101"/>
          <p:cNvPicPr>
            <a:picLocks noGrp="1" noChangeAspect="1"/>
          </p:cNvPicPr>
          <p:nvPr/>
        </p:nvPicPr>
        <a:xfrm>
          <a:off x="1590000" y="1150000"/>
          <a:ext cx="3280000" cy="2050000"/>
        </a:xfrm>
        <p:blipFill>
          <a:blip r:embed="rIdImg1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1" name="text201"/>
          <p:cNvSpPr>
            <a:spLocks noGrp="1"/>
          </p:cNvSpPr>
          <p:nvPr/>
        </p:nvSpPr>
        <p:spPr>
          <a:xfrm>
            <a:off x="50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Vérifications des indicateurs : balayage automatique (valeurs négatives, pourcentages &gt; 100, indices hors plage…).</a:t>
            </a:r>
          </a:p>
        </p:txBody>
      </p:sp>
      <p:pic>
        <p:nvPicPr>
          <p:cNvPr id="102" name="pic102"/>
          <p:cNvPicPr>
            <a:picLocks noGrp="1" noChangeAspect="1"/>
          </p:cNvPicPr>
          <p:nvPr/>
        </p:nvPicPr>
        <a:xfrm>
          <a:off x="7330000" y="1150000"/>
          <a:ext cx="3280000" cy="2050000"/>
        </a:xfrm>
        <p:blipFill>
          <a:blip r:embed="rIdImg2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2" name="text202"/>
          <p:cNvSpPr>
            <a:spLocks noGrp="1"/>
          </p:cNvSpPr>
          <p:nvPr/>
        </p:nvSpPr>
        <p:spPr>
          <a:xfrm>
            <a:off x="624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Lignes d’import en échec : supervision des erreurs de chargement.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11. API &amp; Jetons</a:t>
            </a:r>
          </a:p>
        </p:txBody>
      </p:sp>
      <p:pic>
        <p:nvPicPr>
          <p:cNvPr id="101" name="pic101"/>
          <p:cNvPicPr>
            <a:picLocks noGrp="1" noChangeAspect="1"/>
          </p:cNvPicPr>
          <p:nvPr/>
        </p:nvPicPr>
        <a:xfrm>
          <a:off x="1590000" y="1150000"/>
          <a:ext cx="3280000" cy="2050000"/>
        </a:xfrm>
        <p:blipFill>
          <a:blip r:embed="rIdImg1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1" name="text201"/>
          <p:cNvSpPr>
            <a:spLocks noGrp="1"/>
          </p:cNvSpPr>
          <p:nvPr/>
        </p:nvSpPr>
        <p:spPr>
          <a:xfrm>
            <a:off x="50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Jetons API : création (préfixe dct_), expiration, révocation, statuts Actif/Expiré/Révoqué.</a:t>
            </a:r>
          </a:p>
        </p:txBody>
      </p:sp>
      <p:pic>
        <p:nvPicPr>
          <p:cNvPr id="102" name="pic102"/>
          <p:cNvPicPr>
            <a:picLocks noGrp="1" noChangeAspect="1"/>
          </p:cNvPicPr>
          <p:nvPr/>
        </p:nvPicPr>
        <a:xfrm>
          <a:off x="7330000" y="1150000"/>
          <a:ext cx="3280000" cy="2050000"/>
        </a:xfrm>
        <p:blipFill>
          <a:blip r:embed="rIdImg2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2" name="text202"/>
          <p:cNvSpPr>
            <a:spLocks noGrp="1"/>
          </p:cNvSpPr>
          <p:nvPr/>
        </p:nvSpPr>
        <p:spPr>
          <a:xfrm>
            <a:off x="624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Documentation des endpoints V1 : lecture/écriture des valeurs d’indicateurs (Bearer token).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12. Authentification / Utilisateurs</a:t>
            </a:r>
          </a:p>
        </p:txBody>
      </p:sp>
      <p:pic>
        <p:nvPicPr>
          <p:cNvPr id="101" name="pic101"/>
          <p:cNvPicPr>
            <a:picLocks noGrp="1" noChangeAspect="1"/>
          </p:cNvPicPr>
          <p:nvPr/>
        </p:nvPicPr>
        <a:xfrm>
          <a:off x="1590000" y="1150000"/>
          <a:ext cx="3280000" cy="2050000"/>
        </a:xfrm>
        <p:blipFill>
          <a:blip r:embed="rIdImg1"/>
          <a:stretch>
            <a:fillRect/>
          </a:stretch>
        </p:blipFill>
        <p:spPr>
          <a:prstGeom prst="rect">
            <a:avLst/>
          </a:prstGeom>
          <a:ln w="19050">
            <a:solidFill>
              <a:srgbClr val="CCCCCC"/>
            </a:solidFill>
          </a:ln>
        </p:spPr>
      </p:pic>
      <p:sp>
        <p:nvSpPr>
          <p:cNvPr id="201" name="text201"/>
          <p:cNvSpPr>
            <a:spLocks noGrp="1"/>
          </p:cNvSpPr>
          <p:nvPr/>
        </p:nvSpPr>
        <p:spPr>
          <a:xfrm>
            <a:off x="500000" y="3260000"/>
            <a:ext cx="5460000" cy="78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40000"/>
            </a:pPr>
            <a:r>
              <a:rPr lang="fr-FR" sz="1200" b="0">
                <a:solidFill>
                  <a:srgbClr val="404040"/>
                </a:solidFill>
                <a:latin typeface="Calibri"/>
              </a:rPr>
              <a:t>Gestion des utilisateurs : pays, rôles, permissions, historique des visites, synchronisation Django.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1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2" name="rect2"/>
          <p:cNvSpPr>
            <a:spLocks noGrp="1"/>
          </p:cNvSpPr>
          <p:nvPr/>
        </p:nvSpPr>
        <p:spPr>
          <a:xfrm>
            <a:off x="0" y="0"/>
            <a:ext cx="182000" cy="900000"/>
          </a:xfrm>
          <a:prstGeom prst="rect">
            <a:avLst/>
          </a:prstGeom>
          <a:ln>
            <a:noFill/>
          </a:ln>
          <a:solidFill>
            <a:srgbClr val="1F4E79"/>
          </a:solidFill>
        </p:spPr>
      </p:sp>
      <p:sp>
        <p:nvSpPr>
          <p:cNvPr id="3" name="text3"/>
          <p:cNvSpPr>
            <a:spLocks noGrp="1"/>
          </p:cNvSpPr>
          <p:nvPr/>
        </p:nvSpPr>
        <p:spPr>
          <a:xfrm>
            <a:off x="700000" y="140000"/>
            <a:ext cx="11000000" cy="62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30000"/>
            </a:pPr>
            <a:r>
              <a:rPr lang="fr-FR" sz="3000" b="1">
                <a:solidFill>
                  <a:srgbClr val="FFFFFF"/>
                </a:solidFill>
                <a:latin typeface="Calibri"/>
              </a:rPr>
              <a:t>Points clés &amp; conclusion</a:t>
            </a:r>
          </a:p>
        </p:txBody>
      </p:sp>
      <p:sp>
        <p:nvSpPr>
          <p:cNvPr id="4" name="text4"/>
          <p:cNvSpPr>
            <a:spLocks noGrp="1"/>
          </p:cNvSpPr>
          <p:nvPr/>
        </p:nvSpPr>
        <p:spPr>
          <a:xfrm>
            <a:off x="700000" y="1700000"/>
            <a:ext cx="10800000" cy="40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Contexte pays correct + données saisies en « En attente » puis approuvées après contrôle.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La qualité des données commence à la saisie (valeurs plausibles, unités, années valides).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Pour les gros volumes : import Excel ; l’assistant IA « AI » guide pas à pas.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N’approuver qu’après contrôle ; tout est tracé (qui, quand).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Exporter régulièrement ; utiliser l’API pour les intégrations automatisées.</a:t>
            </a:r>
          </a:p>
          <a:p>
            <a:pPr algn="l" marL="342900" indent="-228600">
              <a:spcAft spc="90000"/>
              <a:buFont typeface="Arial"/>
              <a:buChar char="•"/>
            </a:pPr>
            <a:r>
              <a:rPr lang="fr-FR" sz="1800" b="0">
                <a:solidFill>
                  <a:srgbClr val="404040"/>
                </a:solidFill>
                <a:latin typeface="Calibri"/>
              </a:rPr>
              <a:t>Merci de votre participation – Session pratique et questions ouvertes.</a:t>
            </a:r>
          </a:p>
        </p:txBody>
      </p:sp>
      <p:sp>
        <p:nvSpPr>
          <p:cNvPr id="90" name="rect90"/>
          <p:cNvSpPr>
            <a:spLocks noGrp="1"/>
          </p:cNvSpPr>
          <p:nvPr/>
        </p:nvSpPr>
        <p:spPr>
          <a:xfrm>
            <a:off x="0" y="6400000"/>
            <a:ext cx="12192000" cy="458000"/>
          </a:xfrm>
          <a:prstGeom prst="rect">
            <a:avLst/>
          </a:prstGeom>
          <a:ln>
            <a:noFill/>
          </a:ln>
          <a:solidFill>
            <a:srgbClr val="0093D5"/>
          </a:solidFill>
        </p:spPr>
      </p:sp>
      <p:sp>
        <p:nvSpPr>
          <p:cNvPr id="91" name="text91"/>
          <p:cNvSpPr>
            <a:spLocks noGrp="1"/>
          </p:cNvSpPr>
          <p:nvPr/>
        </p:nvSpPr>
        <p:spPr>
          <a:xfrm>
            <a:off x="700000" y="6510000"/>
            <a:ext cx="11000000" cy="300000"/>
          </a:xfrm>
          <a:prstGeom prst="rect">
            <a:avLst/>
          </a:prstGeom>
          <a:ln>
            <a:noFill/>
          </a:ln>
          <a:noFill/>
        </p:spPr>
        <p:txBody>
          <a:bodyPr wrap="square" lIns="91440" tIns="45720" rIns="91440" bIns="45720" anchor="t">
            <a:spAutoFit/>
          </a:bodyPr>
          <a:p>
            <a:pPr algn="l">
              <a:spcAft spc="20000"/>
            </a:pPr>
            <a:r>
              <a:rPr lang="fr-FR" sz="1200" b="0">
                <a:solidFill>
                  <a:srgbClr val="FFFFFF"/>
                </a:solidFill>
                <a:latin typeface="Calibri"/>
              </a:rPr>
              <a:t>OMS AFRO – Data Capture Tool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1F4E79"/>
      </a:dk1>
      <a:lt1>
        <a:srgbClr val="FFFFFF"/>
      </a:lt1>
      <a:dk2>
        <a:srgbClr val="0093D5"/>
      </a:dk2>
      <a:lt2>
        <a:srgbClr val="E6F4FB"/>
      </a:lt2>
      <a:accent1>
        <a:srgbClr val="0093D5"/>
      </a:accent1>
      <a:accent2>
        <a:srgbClr val="1F4E79"/>
      </a:accent2>
      <a:accent3>
        <a:srgbClr val="4CB749"/>
      </a:accent3>
      <a:accent4>
        <a:srgbClr val="FFBE3D"/>
      </a:accent4>
      <a:accent5>
        <a:srgbClr val="E5533C"/>
      </a:accent5>
      <a:accent6>
        <a:srgbClr val="8E44AD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</a:schemeClr>
            </a:gs>
            <a:gs pos="100000">
              <a:schemeClr val="phClr">
                <a:shade val="98000"/>
                <a:satMod val="13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Data Capture Tool</dc:title>
  <dc:subject>Formation des utilisateurs</dc:subject>
  <dc:creator>AHO - WHO Regional Office for Africa</dc:creator>
  <cp:lastModifiedBy>opencode</cp:lastModifiedBy>
  <dcterms:created xsi:type="dcterms:W3CDTF">2026-09-21T14:00:42Z</dcterms:created>
  <dcterms:modified xsi:type="dcterms:W3CDTF">2026-09-21T14:00:42Z</dcterms:modified>
</cp:coreProperties>
</file>